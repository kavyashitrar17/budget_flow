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286000" cy="2286000"/>
          </a:xfrm>
          <a:prstGeom prst="ellipse">
            <a:avLst/>
          </a:prstGeom>
          <a:solidFill>
            <a:srgbClr val="94D2BD">
              <a:alpha val="15000"/>
            </a:srgbClr>
          </a:solidFill>
          <a:ln w="12700">
            <a:solidFill>
              <a:srgbClr val="94D2BD">
                <a:alpha val="1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256032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058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FinAware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365760" y="18745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Financial Management System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65760" y="2487168"/>
            <a:ext cx="41148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606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Application for Budget Planning,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Tracking &amp; Smart Financial Suggestions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383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PBL-4 End Term Project  |  CSE Dept.  |  Jan–May 2026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University Jaipur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4206240"/>
            <a:ext cx="1828800" cy="292608"/>
          </a:xfrm>
          <a:prstGeom prst="rect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206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React (TS)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23160" y="4206240"/>
            <a:ext cx="1828800" cy="292608"/>
          </a:xfrm>
          <a:prstGeom prst="rect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6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23160" y="4206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Tailwind CSS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80560" y="4206240"/>
            <a:ext cx="1828800" cy="292608"/>
          </a:xfrm>
          <a:prstGeom prst="rect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6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0560" y="4206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ShadCN UI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37960" y="4206240"/>
            <a:ext cx="1828800" cy="292608"/>
          </a:xfrm>
          <a:prstGeom prst="rect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6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7960" y="4206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Rule-Based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877824" cy="256032"/>
          </a:xfrm>
          <a:prstGeom prst="rect">
            <a:avLst>
              <a:gd name="adj" fmla="val 17857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5BD"/>
                </a:solidFill>
              </a:rPr>
              <a:t>FinAware  |  PBL-4 End Term Report  |  Manipal University Jaipur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46320"/>
            <a:ext cx="2011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Overview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08760"/>
            <a:ext cx="41148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0876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529"/>
                </a:solidFill>
              </a:rPr>
              <a:t>Introduction &amp; Problem Statement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31343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13432"/>
            <a:ext cx="41148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1343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3134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529"/>
                </a:solidFill>
              </a:rPr>
              <a:t>Objectives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11810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18104"/>
            <a:ext cx="41148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18104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11810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529"/>
                </a:solidFill>
              </a:rPr>
              <a:t>System Architecture &amp; Tech Stack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" y="392277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922776"/>
            <a:ext cx="41148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922776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92277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529"/>
                </a:solidFill>
              </a:rPr>
              <a:t>Module Walkthrough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150876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508760"/>
            <a:ext cx="41148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50876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15087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529"/>
                </a:solidFill>
              </a:rPr>
              <a:t>Smart Suggestion Engine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54880" y="231343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313432"/>
            <a:ext cx="41148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31343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23134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529"/>
                </a:solidFill>
              </a:rPr>
              <a:t>Screenshots &amp; Demo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54880" y="311810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118104"/>
            <a:ext cx="41148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118104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57800" y="311810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529"/>
                </a:solidFill>
              </a:rPr>
              <a:t>Advantages &amp; Limitations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754880" y="392277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922776"/>
            <a:ext cx="41148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922776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57800" y="392277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529"/>
                </a:solidFill>
              </a:rPr>
              <a:t>Future Enhancements &amp; Conclusion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481328" cy="256032"/>
          </a:xfrm>
          <a:prstGeom prst="rect">
            <a:avLst>
              <a:gd name="adj" fmla="val 17857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lack structured tools to manage personal finances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5BD"/>
                </a:solidFill>
              </a:rPr>
              <a:t>FinAware  |  PBL-4 End Term Report  |  Manipal University Jaipur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846320"/>
            <a:ext cx="2011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01 / Introduction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4023360" cy="3108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D2BD"/>
                </a:solidFill>
              </a:rPr>
              <a:t>The Challenge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ECEF"/>
                </a:solidFill>
              </a:rPr>
              <a:t>›  No structured expense tracking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694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ECEF"/>
                </a:solidFill>
              </a:rPr>
              <a:t>›  Habitual overspending in food &amp; entertainment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358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ECEF"/>
                </a:solidFill>
              </a:rPr>
              <a:t>›  Limited savings strategy awareness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ECEF"/>
                </a:solidFill>
              </a:rPr>
              <a:t>›  No affordable personalised advisory access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9684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ECEF"/>
                </a:solidFill>
              </a:rPr>
              <a:t>›  Generic tools fail beginners (18–25 age group)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4160520" cy="3108960"/>
          </a:xfrm>
          <a:prstGeom prst="rect">
            <a:avLst/>
          </a:prstGeom>
          <a:solidFill>
            <a:srgbClr val="F4F1DE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9396"/>
                </a:solidFill>
              </a:rPr>
              <a:t>FinAware's Answer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21031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29"/>
                </a:solidFill>
              </a:rPr>
              <a:t>A unified, intelligent web platform combining: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29"/>
                </a:solidFill>
              </a:rPr>
              <a:t>• Budget Planning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29"/>
                </a:solidFill>
              </a:rPr>
              <a:t>• Daily Expense Tracking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29"/>
                </a:solidFill>
              </a:rPr>
              <a:t>• Smart Savings Suggestions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29"/>
                </a:solidFill>
              </a:rPr>
              <a:t>• Visual Financial Dashboard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529"/>
                </a:solidFill>
              </a:rPr>
              <a:t>Targeting students &amp; early professionals aged 18–25 with zero-dependency, free-to-use access.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280160" cy="256032"/>
          </a:xfrm>
          <a:prstGeom prst="rect">
            <a:avLst>
              <a:gd name="adj" fmla="val 17857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OBJECTIVES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5BD"/>
                </a:solidFill>
              </a:rPr>
              <a:t>FinAware  |  PBL-4 End Term Report  |  Manipal University Jaipur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46320"/>
            <a:ext cx="2011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02 / Objectives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9396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Budgeting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1671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Plan income, fixed &amp; variable expenses, and savings goals in one place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14173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417320"/>
            <a:ext cx="27432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9396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55848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Real-Time Tracker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21671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Log daily expenses with auto category assignment and visual insights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08776" y="14173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417320"/>
            <a:ext cx="27432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9396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0216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Suggestion Engine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0216" y="21671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Rule-based AI generating personalised financial recommendations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0175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9396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148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Visual Dashboard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7673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Doughnut charts &amp; progress bars for quick financial health overview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64408" y="30175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64408" y="3017520"/>
            <a:ext cx="27432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9396"/>
                </a:solidFill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355848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Financial Literacy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55848" y="37673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Promote discipline among young adults with actionable guidance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08776" y="30175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08776" y="3017520"/>
            <a:ext cx="27432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0216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9396"/>
                </a:solidFill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300216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Scalable Frontend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00216" y="37673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Built with React + TypeScript for maintainability &amp; growth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280160" cy="256032"/>
          </a:xfrm>
          <a:prstGeom prst="rect">
            <a:avLst>
              <a:gd name="adj" fmla="val 17857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5BD"/>
                </a:solidFill>
              </a:rPr>
              <a:t>FinAware  |  PBL-4 End Term Report  |  Manipal University Jaipur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46320"/>
            <a:ext cx="2011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03 / 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2743200" cy="141732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73152" cy="1417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DB5BD"/>
                </a:solidFill>
              </a:rPr>
              <a:t>Frontend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" y="1764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React (TypeScript)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" y="2130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CEF"/>
                </a:solidFill>
              </a:rPr>
              <a:t>UI Components &amp; Logic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9396"/>
                </a:solidFill>
              </a:rPr>
              <a:t>18.x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417320"/>
            <a:ext cx="2743200" cy="141732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17320"/>
            <a:ext cx="73152" cy="14173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DB5BD"/>
                </a:solidFill>
              </a:rPr>
              <a:t>Styling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10712" y="1764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Tailwind CSS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10712" y="2130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CEF"/>
                </a:solidFill>
              </a:rPr>
              <a:t>Responsive Design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10712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C46A"/>
                </a:solidFill>
              </a:rPr>
              <a:t>3.x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1417320"/>
            <a:ext cx="2743200" cy="141732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417320"/>
            <a:ext cx="73152" cy="141732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DB5BD"/>
                </a:solidFill>
              </a:rPr>
              <a:t>UI Library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36792" y="1764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ShadCN UI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36792" y="2130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CEF"/>
                </a:solidFill>
              </a:rPr>
              <a:t>Pre-built Components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36792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D2BD"/>
                </a:solidFill>
              </a:rPr>
              <a:t>Latest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017520"/>
            <a:ext cx="2743200" cy="141732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17520"/>
            <a:ext cx="73152" cy="1417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DB5BD"/>
                </a:solidFill>
              </a:rPr>
              <a:t>State Mgmt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" y="3364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React Hooks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4632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CEF"/>
                </a:solidFill>
              </a:rPr>
              <a:t>Local State Mgmt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" y="4069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9396"/>
                </a:solidFill>
              </a:rPr>
              <a:t>Built-in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3017520"/>
            <a:ext cx="2743200" cy="141732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3017520"/>
            <a:ext cx="73152" cy="1417320"/>
          </a:xfrm>
          <a:prstGeom prst="rect">
            <a:avLst/>
          </a:prstGeom>
          <a:solidFill>
            <a:srgbClr val="ADB5BD"/>
          </a:solidFill>
          <a:ln w="12700">
            <a:solidFill>
              <a:srgbClr val="ADB5B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0712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DB5BD"/>
                </a:solidFill>
              </a:rPr>
              <a:t>Persistence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10712" y="3364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localStorage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410712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CEF"/>
                </a:solidFill>
              </a:rPr>
              <a:t>Client-side Storage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410712" y="4069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DB5BD"/>
                </a:solidFill>
              </a:rPr>
              <a:t>Browser API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72200" y="3017520"/>
            <a:ext cx="2743200" cy="141732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72200" y="3017520"/>
            <a:ext cx="73152" cy="1417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DB5BD"/>
                </a:solidFill>
              </a:rPr>
              <a:t>Notifications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36792" y="33649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Sonner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36792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CEF"/>
                </a:solidFill>
              </a:rPr>
              <a:t>Toast Notifications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36792" y="4069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Latest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481328" cy="256032"/>
          </a:xfrm>
          <a:prstGeom prst="rect">
            <a:avLst>
              <a:gd name="adj" fmla="val 17857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 front-end architecture for maximum modularity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5BD"/>
                </a:solidFill>
              </a:rPr>
              <a:t>FinAware  |  PBL-4 End Term Report  |  Manipal University Jaipur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846320"/>
            <a:ext cx="2011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03 / Architecture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3931920" cy="548640"/>
          </a:xfrm>
          <a:prstGeom prst="rect">
            <a:avLst/>
          </a:prstGeom>
          <a:solidFill>
            <a:srgbClr val="F4F1DE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508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9164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Reusable stateless UI elements (buttons, cards, modals)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148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features/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9164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Core modules: budget-planner, tracker, suggestions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788920"/>
            <a:ext cx="3931920" cy="548640"/>
          </a:xfrm>
          <a:prstGeom prst="rect">
            <a:avLst/>
          </a:prstGeom>
          <a:solidFill>
            <a:srgbClr val="F4F1DE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788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Abstraction for localStorage read/write operations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42900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429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91640" y="3429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Date formatting, currency, percentage helpers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069080"/>
            <a:ext cx="3931920" cy="548640"/>
          </a:xfrm>
          <a:prstGeom prst="rect">
            <a:avLst/>
          </a:prstGeom>
          <a:solidFill>
            <a:srgbClr val="F4F1DE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069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types/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9164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</a:rPr>
              <a:t>TypeScript interfaces for all data models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Data Flow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920240"/>
            <a:ext cx="3749040" cy="4572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1920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Budget Planner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9396"/>
                </a:solidFill>
              </a:rPr>
              <a:t>▼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2670048"/>
            <a:ext cx="37490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2670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localStorage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3127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9396"/>
                </a:solidFill>
              </a:rPr>
              <a:t>▼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3419856"/>
            <a:ext cx="3749040" cy="4572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34198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Dashboard / Tracker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92240" y="38770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9396"/>
                </a:solidFill>
              </a:rPr>
              <a:t>▼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46320" y="4169664"/>
            <a:ext cx="3749040" cy="45720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41696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Suggestion Engine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978408" cy="256032"/>
          </a:xfrm>
          <a:prstGeom prst="rect">
            <a:avLst>
              <a:gd name="adj" fmla="val 17857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MODULES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Modules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5BD"/>
                </a:solidFill>
              </a:rPr>
              <a:t>FinAware  |  PBL-4 End Term Report  |  Manipal University Jaipur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46320"/>
            <a:ext cx="2011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04 / Modules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73152" cy="15087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9396"/>
                </a:solidFill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" y="18928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Budget Planner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" y="22402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Define monthly income, fixed &amp; variable expenses, and savings targets. Doughnut chart for quick visual breakdown.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417320"/>
            <a:ext cx="73152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73752" y="18928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73752" y="22402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Financial command centre: total income, cumulative expenses, net savings, remaining balance, and progress bars.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1089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08960"/>
            <a:ext cx="73152" cy="1508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" y="35844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Daily Expense Tracker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" y="393192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Log transactions with auto-category assignment. Colour-coded status indicators. Downloadable expense report.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31089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108960"/>
            <a:ext cx="73152" cy="150876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D2BD"/>
                </a:solidFill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73752" y="35844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Smart Suggestions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73752" y="393192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Rule-based engine generates personalised financial recommendations based on age range and profession profile.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84248" cy="256032"/>
          </a:xfrm>
          <a:prstGeom prst="rect">
            <a:avLst>
              <a:gd name="adj" fmla="val 17857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SUGGESTION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distinguishing feature — a rule-based expert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5BD"/>
                </a:solidFill>
              </a:rPr>
              <a:t>FinAware  |  PBL-4 End Term Report  |  Manipal University Jaipur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846320"/>
            <a:ext cx="2011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05 / 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2743200" cy="1280160"/>
          </a:xfrm>
          <a:prstGeom prst="rect">
            <a:avLst/>
          </a:prstGeom>
          <a:solidFill>
            <a:srgbClr val="1A2E3F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9396"/>
                </a:solidFill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9768" y="21214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Profile Parser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CEF"/>
                </a:solidFill>
              </a:rPr>
              <a:t>Extracts age range &amp; profession, maps to canonical profile 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19659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9396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46120" y="1600200"/>
            <a:ext cx="2743200" cy="1280160"/>
          </a:xfrm>
          <a:prstGeom prst="rect">
            <a:avLst/>
          </a:prstGeom>
          <a:solidFill>
            <a:srgbClr val="1A2E3F"/>
          </a:solidFill>
          <a:ln w="12700">
            <a:solidFill>
              <a:srgbClr val="E9C4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55848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C46A"/>
                </a:solidFill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55848" y="21214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Spending Analyser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CEF"/>
                </a:solidFill>
              </a:rPr>
              <a:t>Computes category-wise totals, % allocations, peak spend area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9320" y="19659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9396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172200" y="1600200"/>
            <a:ext cx="2743200" cy="1280160"/>
          </a:xfrm>
          <a:prstGeom prst="rect">
            <a:avLst/>
          </a:prstGeom>
          <a:solidFill>
            <a:srgbClr val="1A2E3F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81928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D2BD"/>
                </a:solidFill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81928" y="21214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Rule Resolver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1928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CEF"/>
                </a:solidFill>
              </a:rPr>
              <a:t>Applies rule matrix → ranked suggestions with explanations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3035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D2BD"/>
                </a:solidFill>
              </a:rPr>
              <a:t>Sample Rules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401568"/>
            <a:ext cx="4160520" cy="41148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015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</a:rPr>
              <a:t>IF  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34015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CEF"/>
                </a:solidFill>
              </a:rPr>
              <a:t>Age 18–25 + Food &gt; 30% income  →  Suggest meal prepping &amp; reduce dining-out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27448" y="3401568"/>
            <a:ext cx="4160520" cy="41148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4015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</a:rPr>
              <a:t>IF 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34015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CEF"/>
                </a:solidFill>
              </a:rPr>
              <a:t>Salaried + Savings &lt; 15%  →  Set up automated monthly savings transfers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904488"/>
            <a:ext cx="4160520" cy="41148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0448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</a:rPr>
              <a:t>IF 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" y="390448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CEF"/>
                </a:solidFill>
              </a:rPr>
              <a:t>Entertainment = highest category  →  Audit &amp; consolidate streaming subscriptions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27448" y="3904488"/>
            <a:ext cx="4160520" cy="41148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90448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</a:rPr>
              <a:t>IF  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390448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CEF"/>
                </a:solidFill>
              </a:rPr>
              <a:t>Transport expenses high  →  Recommend carpooling or monthly transit pass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380744" cy="256032"/>
          </a:xfrm>
          <a:prstGeom prst="rect">
            <a:avLst>
              <a:gd name="adj" fmla="val 17857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SCREENSHOTS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Budget Planner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0" y="594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D2BD"/>
                </a:solidFill>
              </a:rPr>
              <a:t>Screenshot 1 of 4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8412480" cy="31546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5BD"/>
                </a:solidFill>
              </a:rPr>
              <a:t>FinAware  |  PBL-4 End Term Report  |  Manipal University Jaipur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0" y="4846320"/>
            <a:ext cx="2011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06 / Screenshots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DB5BD"/>
                </a:solidFill>
              </a:rPr>
              <a:t>Budget Planner — income entry, fixed/variable expenses, auto-tagged categories, and doughnut chart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380744" cy="256032"/>
          </a:xfrm>
          <a:prstGeom prst="rect">
            <a:avLst>
              <a:gd name="adj" fmla="val 17857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SCREENSHOTS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Expense Tracker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0" y="594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D2BD"/>
                </a:solidFill>
              </a:rPr>
              <a:t>Screenshot 2 of 4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8412480" cy="31546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5BD"/>
                </a:solidFill>
              </a:rPr>
              <a:t>FinAware  |  PBL-4 End Term Report  |  Manipal University Jaipur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0" y="4846320"/>
            <a:ext cx="2011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06 / Screenshots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DB5BD"/>
                </a:solidFill>
              </a:rPr>
              <a:t>AI Insights panel + date-grouped transactions with auto-categorisation and colour-coded budget status indicators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380744" cy="256032"/>
          </a:xfrm>
          <a:prstGeom prst="rect">
            <a:avLst>
              <a:gd name="adj" fmla="val 17857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SCREENSHOTS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Savings Suggestions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0" y="594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D2BD"/>
                </a:solidFill>
              </a:rPr>
              <a:t>Screenshot 3 of 4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8412480" cy="31546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5BD"/>
                </a:solidFill>
              </a:rPr>
              <a:t>FinAware  |  PBL-4 End Term Report  |  Manipal University Jaipur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0" y="4846320"/>
            <a:ext cx="2011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06 / Screenshots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DB5BD"/>
                </a:solidFill>
              </a:rPr>
              <a:t>Age range &amp; profession dropdowns trigger personalised suggestions. Dark Mode toggle available top-right.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380744" cy="256032"/>
          </a:xfrm>
          <a:prstGeom prst="rect">
            <a:avLst>
              <a:gd name="adj" fmla="val 17857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SCREENSHOTS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Centre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0" y="594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D2BD"/>
                </a:solidFill>
              </a:rPr>
              <a:t>Screenshot 4 of 4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8412480" cy="31546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5BD"/>
                </a:solidFill>
              </a:rPr>
              <a:t>FinAware  |  PBL-4 End Term Report  |  Manipal University Jaipur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0" y="4846320"/>
            <a:ext cx="2011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06 / Screenshots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DB5BD"/>
                </a:solidFill>
              </a:rPr>
              <a:t>Getting Started, FAQs &amp; Support sections. Real-time toast notification (bottom-right) showing Sukanya Samriddhi Yojana update.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280160" cy="256032"/>
          </a:xfrm>
          <a:prstGeom prst="rect">
            <a:avLst>
              <a:gd name="adj" fmla="val 17857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5BD"/>
                </a:solidFill>
              </a:rPr>
              <a:t>FinAware  |  PBL-4 End Term Report  |  Manipal University Jaipur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46320"/>
            <a:ext cx="2011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07 / Evaluation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402336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Advantages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764792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647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  Beginner-friendly, guided UI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249424"/>
            <a:ext cx="4023360" cy="438912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4942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  Personalised AI suggestions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734056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73405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  Zero-dependency static deployment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218688"/>
            <a:ext cx="4023360" cy="438912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2186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  Real-time category feedback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70332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7033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  Visual charts &amp; progress bars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4187952"/>
            <a:ext cx="4023360" cy="438912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18795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  Cross-session localStorage persistence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1417320"/>
            <a:ext cx="40690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41732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  Limitations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764792"/>
            <a:ext cx="4069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764792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  Device-specific storage (no sync)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2249424"/>
            <a:ext cx="4069080" cy="438912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249424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  No user authentication / login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2734056"/>
            <a:ext cx="4069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73405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  Rule-based (not ML-based) engine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3218688"/>
            <a:ext cx="4069080" cy="438912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218688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  No bank API / auto-import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3703320"/>
            <a:ext cx="4069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7033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  INR only — no multi-currency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4187952"/>
            <a:ext cx="4069080" cy="438912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187952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529"/>
                </a:solidFill>
              </a:rPr>
              <a:t>  No push notification system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185416" cy="256032"/>
          </a:xfrm>
          <a:prstGeom prst="rect">
            <a:avLst>
              <a:gd name="adj" fmla="val 17857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FUTURE ENHANCEMENTS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DB5BD"/>
                </a:solidFill>
              </a:rPr>
              <a:t>FinAware  |  PBL-4 End Term Report  |  Manipal University Jaipur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46320"/>
            <a:ext cx="2011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08 / Future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2011680" cy="146304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63040"/>
            <a:ext cx="201168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72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396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1965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 Integration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77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DB5BD"/>
                </a:solidFill>
              </a:rPr>
              <a:t>PostgreSQL + REST API for cross-device sync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14600" y="1463040"/>
            <a:ext cx="2011680" cy="146304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463040"/>
            <a:ext cx="201168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572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396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06040" y="1965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Authentication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2377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DB5BD"/>
                </a:solidFill>
              </a:rPr>
              <a:t>OAuth 2.0 / JWT multi-user support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463040"/>
            <a:ext cx="2011680" cy="146304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463040"/>
            <a:ext cx="201168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572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396"/>
                </a:solidFill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00600" y="1965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AI/ML Recommendation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377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DB5BD"/>
                </a:solidFill>
              </a:rPr>
              <a:t>Replace rule engine with trained ML model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03720" y="1463040"/>
            <a:ext cx="2011680" cy="146304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463040"/>
            <a:ext cx="201168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1572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396"/>
                </a:solidFill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1965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Bank API Integration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2377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DB5BD"/>
                </a:solidFill>
              </a:rPr>
              <a:t>Plaid / Yodlee / RBI Account Aggregator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108960"/>
            <a:ext cx="2011680" cy="146304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108960"/>
            <a:ext cx="201168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218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396"/>
                </a:solidFill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11480" y="3611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Push Notifications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4023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DB5BD"/>
                </a:solidFill>
              </a:rPr>
              <a:t>Browser alerts when budget thresholds exceeded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14600" y="3108960"/>
            <a:ext cx="2011680" cy="146304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14600" y="3108960"/>
            <a:ext cx="201168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06040" y="3218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396"/>
                </a:solidFill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606040" y="3611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Mobile App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06040" y="4023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DB5BD"/>
                </a:solidFill>
              </a:rPr>
              <a:t>React Native iOS &amp; Android companion app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3108960"/>
            <a:ext cx="2011680" cy="146304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3108960"/>
            <a:ext cx="201168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218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396"/>
                </a:solidFill>
              </a:rPr>
              <a:t>07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800600" y="3611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Multi-Currency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00600" y="4023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DB5BD"/>
                </a:solidFill>
              </a:rPr>
              <a:t>Real-time exchange rate conversion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03720" y="3108960"/>
            <a:ext cx="2011680" cy="1463040"/>
          </a:xfrm>
          <a:prstGeom prst="rect">
            <a:avLst/>
          </a:prstGeom>
          <a:solidFill>
            <a:srgbClr val="1A2E3F"/>
          </a:solidFill>
          <a:ln w="12700">
            <a:solidFill>
              <a:srgbClr val="1A2E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903720" y="3108960"/>
            <a:ext cx="201168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95160" y="3218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396"/>
                </a:solidFill>
              </a:rPr>
              <a:t>08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95160" y="3611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Shared Budgets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95160" y="4023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DB5BD"/>
                </a:solidFill>
              </a:rPr>
              <a:t>Collaborative plans for households / groups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3840480" cy="3840480"/>
          </a:xfrm>
          <a:prstGeom prst="ellipse">
            <a:avLst/>
          </a:prstGeom>
          <a:solidFill>
            <a:srgbClr val="0A9396">
              <a:alpha val="12000"/>
            </a:srgbClr>
          </a:solidFill>
          <a:ln w="12700">
            <a:solidFill>
              <a:srgbClr val="0A9396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D2BD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FinAware — Project Achieved All Objectives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664208"/>
            <a:ext cx="41148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2880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9ECEF"/>
                </a:solidFill>
              </a:rPr>
              <a:t>FinAware successfully delivers a complete personal financial management system — integrating budgeting, real-time expense tracking, and intelligent financial suggestions in a single accessible platform.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9ECEF"/>
                </a:solidFill>
              </a:rPr>
              <a:t>The project demonstrates how modern web technologies address real-world financial challenges for the 18–25 demographic, while establishing an extensible foundation for ML-powered recommendations and full backend integration.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4069080"/>
            <a:ext cx="2331720" cy="347472"/>
          </a:xfrm>
          <a:prstGeom prst="rect">
            <a:avLst/>
          </a:prstGeom>
          <a:solidFill>
            <a:srgbClr val="1A2E3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069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✓ Budget Planner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4069080"/>
            <a:ext cx="2331720" cy="347472"/>
          </a:xfrm>
          <a:prstGeom prst="rect">
            <a:avLst/>
          </a:prstGeom>
          <a:solidFill>
            <a:srgbClr val="1A2E3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4069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✓ Expense Tracker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4526280"/>
            <a:ext cx="2331720" cy="347472"/>
          </a:xfrm>
          <a:prstGeom prst="rect">
            <a:avLst/>
          </a:prstGeom>
          <a:solidFill>
            <a:srgbClr val="1A2E3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262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✓ Suggestion Engine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71800" y="4526280"/>
            <a:ext cx="2331720" cy="347472"/>
          </a:xfrm>
          <a:prstGeom prst="rect">
            <a:avLst/>
          </a:prstGeom>
          <a:solidFill>
            <a:srgbClr val="1A2E3F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45262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✓ Visual Dashboard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4434840"/>
            <a:ext cx="256032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FinAware — Personalized Financial Management System</dc:title>
  <dc:subject>PptxGenJS Presentation</dc:subject>
  <dc:creator>Manipal University Jaipur</dc:creator>
  <cp:lastModifiedBy>Manipal University Jaipur</cp:lastModifiedBy>
  <cp:revision>1</cp:revision>
  <dcterms:created xsi:type="dcterms:W3CDTF">2026-04-14T04:30:22Z</dcterms:created>
  <dcterms:modified xsi:type="dcterms:W3CDTF">2026-04-14T04:30:22Z</dcterms:modified>
</cp:coreProperties>
</file>